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4E0A8-60A0-4CCD-9A35-96BDD4464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C17BB6-DED8-4197-B864-B76E5B758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812DFC-2E3B-4A3B-91C5-98D1EBEE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51D99B-292A-45E9-A841-65B3C8C7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44722B-C917-46B5-9139-16122347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79328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CCC62-DE34-4339-8CF4-1795EF66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F38CEA-4BD9-4619-8E34-06FDC5F76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AE4190-5C5D-46A1-862E-D393E121A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0A3BE0-6CF2-4530-B9E2-1AD6E39B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CFC4DE-7BCD-49CE-9141-B3678814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6826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306CB-8E0A-4E97-9F90-3C08F45AC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EDCB2C-CE32-4584-9DDF-E990F40B3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AF6664-0ABD-4D60-B881-E463CBCBA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F2D902-C5EC-4A8B-8C35-0317123B6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0096C-4B1A-4CA4-9D52-C7DA956A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356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21C21-FE63-45B8-BAC7-B367CF5D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26483A-BF13-46D2-80FD-80CDB4C67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C7D68D-4700-4126-BBD1-DAAAB7DE2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FD7B44-E236-4B39-B39B-F1CCE1F10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4B5C71-E653-4DE1-9902-7DC5961F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D83E9B-637F-45D0-B735-FBD0C530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7111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DFC8A-0DCB-4A2D-B192-EBD34FEB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99EAB0-E832-4625-A77F-68E10370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ACD2A0-CD28-4E9E-8685-0B2FD426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90E3EF-4514-42D2-B034-D734BF493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236242E-5678-4256-9B63-345FD8411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3BF014A-9F4F-418C-B203-F2D6CF942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BDEAB9F-5277-4B34-AE68-87DDCCF4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B49E88-70DF-4D74-A08C-332D97BA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50249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EC2FE-F502-4247-8CFE-81DCB4F2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352962-FCDF-473B-B19C-273F0CEC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A207C7E-FC40-479A-AA08-D2049728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68D871-0CDB-4EBD-9228-E98D1F5E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60883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3DA299-3529-4A09-8BC1-EC28935AD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D33480-61FB-409B-9532-2FA13247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A2A011-97AB-4043-8B3C-CBFE28406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89376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95A2F-9431-4383-919B-32464389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9C9F65-6501-49E0-B8D0-A7EF6DC96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1F1C6F-D59B-4B2D-AF60-70B63C81B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0E2EDB-23BC-4042-B10C-8360CB6FD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6580F4-27B2-484F-9834-3AE910897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558712-01B8-44E9-A33F-60FC4B19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1076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9A43A-13A5-4029-BD63-32FFC221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D4133FF-A676-4EDB-A86B-694BC6381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C8566F-8A3A-4DF2-A0C4-3F242BC7B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D40FED-4744-4D07-BA1C-15952E96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FB4CC3-04C5-4B28-BBB8-A0F9BDD23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8DAF91-D05B-4ECC-95D0-E0028F7A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892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905AE-97DA-40B5-9F0F-9975A343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617D17-A6E3-43AB-A521-F599CFFF3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7E5474-7C1D-4C38-97E5-13063EB66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E52C26-CD61-4C7E-85D0-B466B074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FD9DE3-63B5-4D53-B21B-D63D4375F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2970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F539FC-1AFA-4D57-976B-B5D4D0686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65D70A-4941-46FF-AE03-A65FC9F8A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081252-5946-4C36-ADEE-A4146909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EDAB55-1164-4836-9ED7-3B68BFCD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433937-3D32-4BFF-809F-83186FBD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98394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11602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00490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34638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38276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48363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728008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9100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558653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12095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043201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2774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24936A4-7028-4AD0-B9C8-B63B0372A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3C7B80-15D5-4402-880D-26A5EDA80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B6A061-561D-4F25-8F71-4B26D1706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F862F2-3EA0-4885-B180-70CFD6DDC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B6F7EA-2267-4A6E-8509-A00E1140C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1804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42ECF-D5D7-44C8-8EB2-0487BA1F307E}" type="datetimeFigureOut">
              <a:rPr lang="es-EC" smtClean="0"/>
              <a:t>3/12/2025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9226C-05AA-4DE8-90E8-BC6CC65E541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656899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09157-D152-4DA3-AE41-5EF481435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799" y="2043953"/>
            <a:ext cx="11394141" cy="1466010"/>
          </a:xfrm>
        </p:spPr>
        <p:txBody>
          <a:bodyPr>
            <a:normAutofit fontScale="90000"/>
          </a:bodyPr>
          <a:lstStyle/>
          <a:p>
            <a:r>
              <a:rPr lang="es-MX" sz="3200" b="1" dirty="0">
                <a:solidFill>
                  <a:schemeClr val="accent1">
                    <a:lumMod val="50000"/>
                  </a:schemeClr>
                </a:solidFill>
              </a:rPr>
              <a:t>UNIVERSIDAD TÉCNICA PARTICULAR DE LOJA CARRERA DE INGENIERÍA EN CIENCIAS DE LA COMPUTACIÓN</a:t>
            </a:r>
            <a:br>
              <a:rPr lang="es-MX" sz="32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s-MX" sz="3200" b="1" dirty="0">
                <a:solidFill>
                  <a:schemeClr val="accent1">
                    <a:lumMod val="50000"/>
                  </a:schemeClr>
                </a:solidFill>
              </a:rPr>
              <a:t>FUNDAMENTOS COMPUTACIONALES</a:t>
            </a:r>
            <a:br>
              <a:rPr lang="es-MX" sz="32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s-MX" sz="3200" b="1" dirty="0">
                <a:solidFill>
                  <a:schemeClr val="accent1">
                    <a:lumMod val="50000"/>
                  </a:schemeClr>
                </a:solidFill>
              </a:rPr>
              <a:t>Proyecto de Asignatura</a:t>
            </a:r>
            <a:endParaRPr lang="es-EC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D5DBD7-FEDB-43BB-8161-C8A01E139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2294" y="4632326"/>
            <a:ext cx="11999494" cy="2110908"/>
          </a:xfrm>
        </p:spPr>
        <p:txBody>
          <a:bodyPr>
            <a:normAutofit fontScale="85000" lnSpcReduction="20000"/>
          </a:bodyPr>
          <a:lstStyle/>
          <a:p>
            <a:r>
              <a:rPr lang="es-MX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Integrante: Jonathan Fernando  </a:t>
            </a:r>
            <a:r>
              <a:rPr lang="es-MX"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Alvarez</a:t>
            </a:r>
            <a:r>
              <a:rPr lang="es-MX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Belesaca</a:t>
            </a:r>
          </a:p>
          <a:p>
            <a:r>
              <a:rPr lang="es-MX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Docente: Irma </a:t>
            </a:r>
            <a:r>
              <a:rPr lang="es-MX"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E.Cadme</a:t>
            </a:r>
            <a:r>
              <a:rPr lang="es-MX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S, Daniel Irene</a:t>
            </a:r>
          </a:p>
          <a:p>
            <a:r>
              <a:rPr lang="es-MX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MX" sz="3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Paralelo:D</a:t>
            </a:r>
            <a:r>
              <a:rPr lang="es-MX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</a:t>
            </a:r>
          </a:p>
          <a:p>
            <a:endParaRPr lang="es-MX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MX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Loja, 1 de Diciembre del 2025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0E9A4C0-E556-44C0-A823-867A411DA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567" y="0"/>
            <a:ext cx="1390476" cy="1716505"/>
          </a:xfrm>
          <a:prstGeom prst="rect">
            <a:avLst/>
          </a:prstGeom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040AD1A-C784-419F-BF82-80413183B369}"/>
              </a:ext>
            </a:extLst>
          </p:cNvPr>
          <p:cNvSpPr txBox="1">
            <a:spLocks/>
          </p:cNvSpPr>
          <p:nvPr/>
        </p:nvSpPr>
        <p:spPr>
          <a:xfrm>
            <a:off x="1059958" y="3509963"/>
            <a:ext cx="9543165" cy="1492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u="sng" dirty="0">
                <a:solidFill>
                  <a:schemeClr val="accent1">
                    <a:lumMod val="50000"/>
                  </a:schemeClr>
                </a:solidFill>
              </a:rPr>
              <a:t>Sistema para Calcular y Recomendar el </a:t>
            </a:r>
          </a:p>
          <a:p>
            <a:r>
              <a:rPr lang="es-MX" u="sng" dirty="0">
                <a:solidFill>
                  <a:schemeClr val="accent1">
                    <a:lumMod val="50000"/>
                  </a:schemeClr>
                </a:solidFill>
              </a:rPr>
              <a:t>Consumo de Internet Mensual</a:t>
            </a:r>
          </a:p>
          <a:p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304863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205-902F-48CA-A13A-90DE75F0A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603" y="240631"/>
            <a:ext cx="3932237" cy="1118937"/>
          </a:xfrm>
        </p:spPr>
        <p:txBody>
          <a:bodyPr/>
          <a:lstStyle/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El Dilema Digital del </a:t>
            </a:r>
            <a:br>
              <a:rPr lang="es-MX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Estudiante Moderno</a:t>
            </a:r>
            <a:endParaRPr lang="es-EC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F0972B-A233-4761-86D4-50C86F4C3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8412" y="1443790"/>
            <a:ext cx="4230605" cy="5281864"/>
          </a:xfrm>
        </p:spPr>
        <p:txBody>
          <a:bodyPr>
            <a:normAutofit fontScale="85000" lnSpcReduction="10000"/>
          </a:bodyPr>
          <a:lstStyle/>
          <a:p>
            <a:r>
              <a:rPr lang="es-MX" sz="2400" dirty="0"/>
              <a:t>Muchos estudiantes utilizan planes de datos </a:t>
            </a:r>
            <a:r>
              <a:rPr lang="es-EC" sz="2400" dirty="0"/>
              <a:t>móviles para clases, redes sociales y entretenimiento, sin ser consientes de la cantidad de consumo y el uso adecuado que le dan.</a:t>
            </a:r>
          </a:p>
          <a:p>
            <a:r>
              <a:rPr lang="es-EC" sz="2400" dirty="0"/>
              <a:t>El acceso a internet es una necesidad para estudiar, entretenerse y comunicarse. Sin embargo, la falta de control sobre el consumo de datos genera problemas tangibles:</a:t>
            </a:r>
          </a:p>
          <a:p>
            <a:r>
              <a:rPr lang="es-EC" sz="4000" dirty="0">
                <a:solidFill>
                  <a:schemeClr val="accent4">
                    <a:lumMod val="75000"/>
                  </a:schemeClr>
                </a:solidFill>
              </a:rPr>
              <a:t>.</a:t>
            </a:r>
            <a:r>
              <a:rPr lang="es-EC" sz="2400" dirty="0"/>
              <a:t>Ralentización de la conexión a     mediados de mes.</a:t>
            </a:r>
          </a:p>
          <a:p>
            <a:r>
              <a:rPr lang="es-EC" sz="3600" dirty="0">
                <a:solidFill>
                  <a:schemeClr val="accent4">
                    <a:lumMod val="75000"/>
                  </a:schemeClr>
                </a:solidFill>
              </a:rPr>
              <a:t>.</a:t>
            </a:r>
            <a:r>
              <a:rPr lang="es-EC" sz="2400" dirty="0"/>
              <a:t>Gastos inesperados en planes más costosos.</a:t>
            </a:r>
          </a:p>
          <a:p>
            <a:r>
              <a:rPr lang="es-EC" sz="4400" dirty="0">
                <a:solidFill>
                  <a:schemeClr val="accent4">
                    <a:lumMod val="75000"/>
                  </a:schemeClr>
                </a:solidFill>
              </a:rPr>
              <a:t>.</a:t>
            </a:r>
            <a:r>
              <a:rPr lang="es-EC" sz="2400" dirty="0"/>
              <a:t>Limitaciones en el acceso a recursos educativos cruciales</a:t>
            </a:r>
            <a:r>
              <a:rPr lang="es-EC" sz="2000" dirty="0"/>
              <a:t>.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72D9945-241E-4551-BD1F-2DFA2EBB2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768" y="0"/>
            <a:ext cx="6946232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917603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3D904-688C-4450-B59B-00963CD6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4" y="-950494"/>
            <a:ext cx="11000874" cy="7676148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La Respuesta: Una Herramienta para la</a:t>
            </a:r>
            <a:br>
              <a:rPr lang="es-MX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            Gestión Inteligente de Datos</a:t>
            </a:r>
            <a:br>
              <a:rPr lang="es-MX" dirty="0"/>
            </a:br>
            <a: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partir de esta necesidad, se propone un sistema diseñado para transformar la incertidumbre en control.</a:t>
            </a:r>
            <a:b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MX" sz="2700" b="1" dirty="0">
                <a:solidFill>
                  <a:schemeClr val="accent1">
                    <a:lumMod val="50000"/>
                  </a:schemeClr>
                </a:solidFill>
              </a:rPr>
              <a:t>Programa para Calcular y Recomendar el Consumo de Internet Mensual</a:t>
            </a:r>
            <a:b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s-MX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Una herramienta de apoyo que brinda a los jóvenes estudiantes información clara sobre su uso de datos, orientándolos a tomar decisiones más eficaces basadas en su realidad diaria.</a:t>
            </a:r>
            <a:endParaRPr lang="es-EC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E8AFF95-6279-48C2-BB5E-515C6FA4D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2" y="2055877"/>
            <a:ext cx="11337758" cy="137312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BB37BBB-5772-45AD-929D-7B2A5CA09048}"/>
              </a:ext>
            </a:extLst>
          </p:cNvPr>
          <p:cNvSpPr/>
          <p:nvPr/>
        </p:nvSpPr>
        <p:spPr>
          <a:xfrm>
            <a:off x="168442" y="3537284"/>
            <a:ext cx="10178715" cy="926432"/>
          </a:xfrm>
          <a:prstGeom prst="round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9936333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41CDF-BBB1-473D-80E4-186B995B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Arquitectura del Sistema</a:t>
            </a:r>
            <a:endParaRPr lang="es-EC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8EE9FA-246F-4A8E-831F-9DC86A377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   ENTRADA                                </a:t>
            </a:r>
            <a:endParaRPr lang="es-EC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E92EE4-FBA4-456B-9A79-4368DE7EA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505075"/>
            <a:ext cx="11119601" cy="4352925"/>
          </a:xfrm>
        </p:spPr>
        <p:txBody>
          <a:bodyPr>
            <a:normAutofit fontScale="85000" lnSpcReduction="20000"/>
          </a:bodyPr>
          <a:lstStyle/>
          <a:p>
            <a:endParaRPr lang="es-MX" sz="1800" b="1" dirty="0"/>
          </a:p>
          <a:p>
            <a:pPr marL="0" indent="0">
              <a:buNone/>
            </a:pPr>
            <a:endParaRPr lang="es-MX" sz="1800" b="1" dirty="0"/>
          </a:p>
          <a:p>
            <a:endParaRPr lang="es-MX" sz="1800" b="1" dirty="0"/>
          </a:p>
          <a:p>
            <a:r>
              <a:rPr lang="es-MX" sz="1800" b="1" dirty="0"/>
              <a:t>Datos registrados por el usuario:                                          . Análisis y cálculos                               . Información útil para el</a:t>
            </a:r>
          </a:p>
          <a:p>
            <a:pPr marL="0" indent="0">
              <a:buNone/>
            </a:pPr>
            <a:r>
              <a:rPr lang="es-MX" sz="1800" b="1" dirty="0"/>
              <a:t>                                                                                                             internos                                                 usuario.</a:t>
            </a:r>
          </a:p>
          <a:p>
            <a:r>
              <a:rPr lang="es-MX" sz="1800" dirty="0"/>
              <a:t>Consumo de MB por actividades: Clases, Redes                  </a:t>
            </a:r>
            <a:r>
              <a:rPr lang="es-MX" sz="3900" dirty="0"/>
              <a:t>.</a:t>
            </a:r>
            <a:r>
              <a:rPr lang="es-MX" sz="1800" dirty="0"/>
              <a:t> Cálculo del consumo total                </a:t>
            </a:r>
            <a:r>
              <a:rPr lang="es-MX" sz="4200" dirty="0"/>
              <a:t> . </a:t>
            </a:r>
            <a:r>
              <a:rPr lang="es-MX" sz="1800" dirty="0"/>
              <a:t>Reporte de consumo total </a:t>
            </a:r>
          </a:p>
          <a:p>
            <a:pPr marL="0" indent="0">
              <a:buNone/>
            </a:pPr>
            <a:r>
              <a:rPr lang="es-MX" sz="1800" dirty="0"/>
              <a:t>      Sociales, Videos, Juegos, Tareas.                                              diario y mensual.                                   (diario y mensual)</a:t>
            </a:r>
          </a:p>
          <a:p>
            <a:pPr marL="0" indent="0">
              <a:buNone/>
            </a:pPr>
            <a:r>
              <a:rPr lang="es-MX" sz="4000" dirty="0"/>
              <a:t>.</a:t>
            </a:r>
            <a:r>
              <a:rPr lang="es-MX" sz="1800" dirty="0"/>
              <a:t>  Número de días evaluados.                                                     </a:t>
            </a:r>
            <a:r>
              <a:rPr lang="es-MX" sz="3900" dirty="0"/>
              <a:t>.</a:t>
            </a:r>
            <a:r>
              <a:rPr lang="es-MX" sz="1800" dirty="0"/>
              <a:t>Evaluación del consumo                     </a:t>
            </a:r>
            <a:r>
              <a:rPr lang="es-MX" sz="4200" dirty="0"/>
              <a:t>.</a:t>
            </a:r>
            <a:r>
              <a:rPr lang="es-MX" sz="1800" dirty="0"/>
              <a:t> Recomendación de plan de </a:t>
            </a:r>
          </a:p>
          <a:p>
            <a:r>
              <a:rPr lang="es-MX" sz="1800" dirty="0"/>
              <a:t>Nombre del usuario.                                                                  contra reglas predefinidas.                   Datos.</a:t>
            </a:r>
          </a:p>
          <a:p>
            <a:r>
              <a:rPr lang="es-MX" sz="1800" dirty="0"/>
              <a:t>                                                                                                     </a:t>
            </a:r>
            <a:r>
              <a:rPr lang="es-MX" sz="3900" dirty="0"/>
              <a:t>.</a:t>
            </a:r>
            <a:r>
              <a:rPr lang="es-MX" sz="1800" dirty="0"/>
              <a:t>Generación de                                       </a:t>
            </a:r>
            <a:r>
              <a:rPr lang="es-MX" sz="4200" dirty="0"/>
              <a:t>.</a:t>
            </a:r>
            <a:r>
              <a:rPr lang="es-MX" sz="1800" dirty="0"/>
              <a:t> Sugerencias personalizadas</a:t>
            </a:r>
          </a:p>
          <a:p>
            <a:r>
              <a:rPr lang="es-MX" sz="1800" dirty="0"/>
              <a:t>                                                                                                        recomendaciones y                                 para optimizar el uso.</a:t>
            </a:r>
          </a:p>
          <a:p>
            <a:r>
              <a:rPr lang="es-MX" sz="1800" dirty="0"/>
              <a:t>                                                                                                        sugerencias.</a:t>
            </a:r>
            <a:endParaRPr lang="es-EC" sz="18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1C15A6-AB41-4EA3-8AD1-94DD660F5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538663" y="1681163"/>
            <a:ext cx="8816725" cy="823912"/>
          </a:xfrm>
        </p:spPr>
        <p:txBody>
          <a:bodyPr/>
          <a:lstStyle/>
          <a:p>
            <a:r>
              <a:rPr lang="es-MX" dirty="0"/>
              <a:t>                                               PROCESO                            SALIDA</a:t>
            </a:r>
            <a:endParaRPr lang="es-EC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5E4B89D7-1B4B-4428-80B6-5FCB2908455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67" y="2452490"/>
            <a:ext cx="838317" cy="9431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867B1C1-C680-421F-A536-3EF0728A9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519" y="2339587"/>
            <a:ext cx="1118937" cy="10894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5657FCE-8DB8-448E-AC3D-0B9444326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34" y="2423986"/>
            <a:ext cx="724001" cy="9050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1BB465A9-7310-436B-BA0D-00EC387617C8}"/>
              </a:ext>
            </a:extLst>
          </p:cNvPr>
          <p:cNvSpPr/>
          <p:nvPr/>
        </p:nvSpPr>
        <p:spPr>
          <a:xfrm>
            <a:off x="4961356" y="2054894"/>
            <a:ext cx="3223598" cy="47389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88228C9-67D5-4E19-9D32-7F808D12F2F0}"/>
              </a:ext>
            </a:extLst>
          </p:cNvPr>
          <p:cNvSpPr/>
          <p:nvPr/>
        </p:nvSpPr>
        <p:spPr>
          <a:xfrm>
            <a:off x="792162" y="2054894"/>
            <a:ext cx="4124743" cy="47389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3E53CD43-33DA-4ACC-97E4-D6207C1EF544}"/>
              </a:ext>
            </a:extLst>
          </p:cNvPr>
          <p:cNvSpPr/>
          <p:nvPr/>
        </p:nvSpPr>
        <p:spPr>
          <a:xfrm>
            <a:off x="8244916" y="2054893"/>
            <a:ext cx="3223598" cy="47389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717122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A429C-0029-42A6-B490-24691402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Lógica del Sistema</a:t>
            </a:r>
            <a:br>
              <a:rPr lang="es-MX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s-MX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El sistema utiliza operaciones aritméticas y lógicas para transformar los datos</a:t>
            </a:r>
            <a:br>
              <a:rPr lang="es-MX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</a:br>
            <a:r>
              <a:rPr lang="es-MX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de entrada en  proyecciones informativas.</a:t>
            </a:r>
            <a:endParaRPr lang="es-EC" sz="2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DF697A-064B-4FEE-9890-8AE5EB37E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58834"/>
            <a:ext cx="5157787" cy="946241"/>
          </a:xfrm>
        </p:spPr>
        <p:txBody>
          <a:bodyPr>
            <a:noAutofit/>
          </a:bodyPr>
          <a:lstStyle/>
          <a:p>
            <a:r>
              <a:rPr lang="es-MX" sz="3200" b="0" dirty="0">
                <a:solidFill>
                  <a:schemeClr val="accent1">
                    <a:lumMod val="50000"/>
                  </a:schemeClr>
                </a:solidFill>
              </a:rPr>
              <a:t>Inicialización y declaración de variables</a:t>
            </a:r>
            <a:endParaRPr lang="es-EC" sz="32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79BFC7-C482-4560-A0BE-CC059233E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r>
              <a:rPr lang="es-MX" sz="2400" dirty="0"/>
              <a:t>Esta sección inicializa el programa e importa la clase “</a:t>
            </a:r>
            <a:r>
              <a:rPr lang="es-MX" sz="2400" dirty="0">
                <a:solidFill>
                  <a:srgbClr val="FF0000"/>
                </a:solidFill>
              </a:rPr>
              <a:t>Scanner</a:t>
            </a:r>
            <a:r>
              <a:rPr lang="es-MX" sz="2400" dirty="0"/>
              <a:t>” para la entrada de datos.</a:t>
            </a:r>
          </a:p>
          <a:p>
            <a:r>
              <a:rPr lang="es-MX" sz="2400" dirty="0"/>
              <a:t>Se declaran numerosas variables del tipo “</a:t>
            </a:r>
            <a:r>
              <a:rPr lang="es-MX" sz="2400" dirty="0" err="1">
                <a:solidFill>
                  <a:schemeClr val="accent2"/>
                </a:solidFill>
              </a:rPr>
              <a:t>double</a:t>
            </a:r>
            <a:r>
              <a:rPr lang="es-MX" sz="2400" dirty="0"/>
              <a:t>”, algunas “</a:t>
            </a:r>
            <a:r>
              <a:rPr lang="es-MX" sz="2400" dirty="0" err="1">
                <a:solidFill>
                  <a:schemeClr val="accent2"/>
                </a:solidFill>
              </a:rPr>
              <a:t>int</a:t>
            </a:r>
            <a:r>
              <a:rPr lang="es-MX" sz="2400" dirty="0"/>
              <a:t>” y “</a:t>
            </a:r>
            <a:r>
              <a:rPr lang="es-MX" sz="2400" dirty="0" err="1">
                <a:solidFill>
                  <a:schemeClr val="accent2"/>
                </a:solidFill>
              </a:rPr>
              <a:t>String</a:t>
            </a:r>
            <a:r>
              <a:rPr lang="es-MX" sz="2400" dirty="0"/>
              <a:t>” para registrar el consumo de megabytes (MB) de diferentes categorías. </a:t>
            </a:r>
          </a:p>
          <a:p>
            <a:r>
              <a:rPr lang="es-MX" sz="2400" dirty="0"/>
              <a:t>También se declaran variables para los cálculos totales y el “output” final.</a:t>
            </a:r>
            <a:endParaRPr lang="es-EC" sz="24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E682BA7-9FCE-4DE2-B0C1-BF67277CE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575" y="1944688"/>
            <a:ext cx="5842492" cy="42449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Flecha: hacia la izquierda 26">
            <a:extLst>
              <a:ext uri="{FF2B5EF4-FFF2-40B4-BE49-F238E27FC236}">
                <a16:creationId xmlns:a16="http://schemas.microsoft.com/office/drawing/2014/main" id="{7D71602A-69C6-4496-A60B-6BE6FD3D2993}"/>
              </a:ext>
            </a:extLst>
          </p:cNvPr>
          <p:cNvSpPr/>
          <p:nvPr/>
        </p:nvSpPr>
        <p:spPr>
          <a:xfrm>
            <a:off x="8709660" y="2031954"/>
            <a:ext cx="342900" cy="162606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8" name="Flecha: hacia la izquierda 27">
            <a:extLst>
              <a:ext uri="{FF2B5EF4-FFF2-40B4-BE49-F238E27FC236}">
                <a16:creationId xmlns:a16="http://schemas.microsoft.com/office/drawing/2014/main" id="{C2BA9190-EBC4-40E8-A4AD-42E5E97C2A80}"/>
              </a:ext>
            </a:extLst>
          </p:cNvPr>
          <p:cNvSpPr/>
          <p:nvPr/>
        </p:nvSpPr>
        <p:spPr>
          <a:xfrm>
            <a:off x="10332720" y="2953974"/>
            <a:ext cx="342900" cy="162606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0" name="Cerrar llave 29">
            <a:extLst>
              <a:ext uri="{FF2B5EF4-FFF2-40B4-BE49-F238E27FC236}">
                <a16:creationId xmlns:a16="http://schemas.microsoft.com/office/drawing/2014/main" id="{D900CFE7-8C43-45BE-9B53-5DF9A23D7818}"/>
              </a:ext>
            </a:extLst>
          </p:cNvPr>
          <p:cNvSpPr/>
          <p:nvPr/>
        </p:nvSpPr>
        <p:spPr>
          <a:xfrm>
            <a:off x="11064240" y="3230880"/>
            <a:ext cx="287972" cy="2887980"/>
          </a:xfrm>
          <a:prstGeom prst="rightBrac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7879032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71AFE40-81C4-4173-88A1-B1EBCAE4C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67" y="3429000"/>
            <a:ext cx="9661025" cy="6096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1D1B53C7-529E-42DA-AB47-D5FD3D713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4134" y="411353"/>
            <a:ext cx="7003732" cy="609685"/>
          </a:xfrm>
        </p:spPr>
        <p:txBody>
          <a:bodyPr>
            <a:noAutofit/>
          </a:bodyPr>
          <a:lstStyle/>
          <a:p>
            <a:r>
              <a:rPr lang="es-MX" sz="3200" b="0" dirty="0">
                <a:solidFill>
                  <a:schemeClr val="accent1">
                    <a:lumMod val="50000"/>
                  </a:schemeClr>
                </a:solidFill>
              </a:rPr>
              <a:t>Inicialización y declaración de variables</a:t>
            </a:r>
            <a:endParaRPr lang="es-EC" sz="32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6A98FF8F-C5A0-4F60-9CD0-0647AB7450CF}"/>
              </a:ext>
            </a:extLst>
          </p:cNvPr>
          <p:cNvSpPr txBox="1">
            <a:spLocks/>
          </p:cNvSpPr>
          <p:nvPr/>
        </p:nvSpPr>
        <p:spPr>
          <a:xfrm>
            <a:off x="839788" y="1558834"/>
            <a:ext cx="10701972" cy="9462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0" dirty="0"/>
              <a:t>Aquí se ingresara el numero de jóvenes a registrar en el sistema, lo cual pasaría a ser el limite “</a:t>
            </a:r>
            <a:r>
              <a:rPr lang="es-MX" b="0" dirty="0" err="1"/>
              <a:t>lim</a:t>
            </a:r>
            <a:r>
              <a:rPr lang="es-MX" b="0" dirty="0"/>
              <a:t>” del (</a:t>
            </a:r>
            <a:r>
              <a:rPr lang="es-MX" b="0" dirty="0" err="1"/>
              <a:t>While</a:t>
            </a:r>
            <a:r>
              <a:rPr lang="es-MX" b="0" dirty="0"/>
              <a:t>) próximamente</a:t>
            </a:r>
            <a:endParaRPr lang="es-EC" b="0" dirty="0"/>
          </a:p>
        </p:txBody>
      </p:sp>
    </p:spTree>
    <p:extLst>
      <p:ext uri="{BB962C8B-B14F-4D97-AF65-F5344CB8AC3E}">
        <p14:creationId xmlns:p14="http://schemas.microsoft.com/office/powerpoint/2010/main" val="3189149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4DD06-F5ED-465C-A1E2-3547DBC0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48343"/>
            <a:ext cx="3932237" cy="1134035"/>
          </a:xfrm>
        </p:spPr>
        <p:txBody>
          <a:bodyPr/>
          <a:lstStyle/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Entrada de    Consumo por categoría</a:t>
            </a:r>
            <a:r>
              <a:rPr lang="es-MX" dirty="0"/>
              <a:t>.</a:t>
            </a:r>
            <a:endParaRPr lang="es-EC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59C03F-7062-4B37-B1A3-F84415C9A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343400"/>
          </a:xfrm>
        </p:spPr>
        <p:txBody>
          <a:bodyPr>
            <a:normAutofit/>
          </a:bodyPr>
          <a:lstStyle/>
          <a:p>
            <a:r>
              <a:rPr lang="es-MX" sz="2000" dirty="0"/>
              <a:t>El código entra en un ciclo “</a:t>
            </a:r>
            <a:r>
              <a:rPr lang="es-MX" sz="2000" dirty="0" err="1">
                <a:solidFill>
                  <a:schemeClr val="accent1">
                    <a:lumMod val="75000"/>
                  </a:schemeClr>
                </a:solidFill>
              </a:rPr>
              <a:t>while</a:t>
            </a:r>
            <a:r>
              <a:rPr lang="es-MX" sz="2000" dirty="0"/>
              <a:t>” para ingresar el consumo diario de internet por usuario.</a:t>
            </a:r>
          </a:p>
          <a:p>
            <a:r>
              <a:rPr lang="es-MX" sz="2000" dirty="0"/>
              <a:t>Solicita al usuario que ingrese la cantidad de MB utilizados al día en todas las subcategorías especificadas (clases, redes sociales, videos, juegos y tareas).</a:t>
            </a:r>
          </a:p>
          <a:p>
            <a:r>
              <a:rPr lang="es-MX" sz="2000" dirty="0"/>
              <a:t>Una vez ingresados los datos, el programa suma el consumo para obtener los totales por categorías principales.</a:t>
            </a:r>
            <a:endParaRPr lang="es-EC" sz="2000" dirty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D51484F3-342E-4FD6-BE36-E426EAFBEA38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455F57D-6BCC-47BD-A0F8-6425B89E5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7" y="280805"/>
            <a:ext cx="6352523" cy="62868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Flecha: hacia la izquierda 10">
            <a:extLst>
              <a:ext uri="{FF2B5EF4-FFF2-40B4-BE49-F238E27FC236}">
                <a16:creationId xmlns:a16="http://schemas.microsoft.com/office/drawing/2014/main" id="{78A0552A-375A-421E-9318-AC4D3F67352E}"/>
              </a:ext>
            </a:extLst>
          </p:cNvPr>
          <p:cNvSpPr/>
          <p:nvPr/>
        </p:nvSpPr>
        <p:spPr>
          <a:xfrm>
            <a:off x="7863840" y="348343"/>
            <a:ext cx="269240" cy="124097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39811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E62AB-DAA3-4731-BFDA-FDF9BEB0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86870"/>
            <a:ext cx="3932237" cy="1169894"/>
          </a:xfrm>
        </p:spPr>
        <p:txBody>
          <a:bodyPr/>
          <a:lstStyle/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Cálculo Promedio Mensual</a:t>
            </a:r>
            <a:endParaRPr lang="es-EC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C4DDFF-E11D-4AB4-8E61-5967CA909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876030"/>
            <a:ext cx="3932237" cy="4412224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En esta sección se totaliza el consumo diario sumando todas las categorías </a:t>
            </a:r>
            <a:r>
              <a:rPr lang="es-MX" sz="20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s-MX" sz="2000" dirty="0" err="1">
                <a:solidFill>
                  <a:schemeClr val="accent1">
                    <a:lumMod val="50000"/>
                  </a:schemeClr>
                </a:solidFill>
              </a:rPr>
              <a:t>MB_suma</a:t>
            </a:r>
            <a:r>
              <a:rPr lang="es-MX" sz="2000" dirty="0">
                <a:solidFill>
                  <a:schemeClr val="accent1">
                    <a:lumMod val="50000"/>
                  </a:schemeClr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 convierte el total de megabytes a gigabytes.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s-EC" sz="2000" dirty="0" err="1">
                <a:solidFill>
                  <a:schemeClr val="accent1">
                    <a:lumMod val="75000"/>
                  </a:schemeClr>
                </a:solidFill>
              </a:rPr>
              <a:t>GB_suma</a:t>
            </a:r>
            <a:r>
              <a:rPr lang="es-EC" sz="20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s-EC" sz="2000" dirty="0" err="1">
                <a:solidFill>
                  <a:schemeClr val="accent1">
                    <a:lumMod val="75000"/>
                  </a:schemeClr>
                </a:solidFill>
              </a:rPr>
              <a:t>MB_suma</a:t>
            </a:r>
            <a:r>
              <a:rPr lang="es-EC" sz="2000" dirty="0">
                <a:solidFill>
                  <a:schemeClr val="accent1">
                    <a:lumMod val="75000"/>
                  </a:schemeClr>
                </a:solidFill>
              </a:rPr>
              <a:t>/ 1024)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 solicita </a:t>
            </a:r>
            <a:r>
              <a:rPr lang="es-EC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</a:t>
            </a:r>
            <a:r>
              <a:rPr lang="es-EC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usuario el número de días a evaluar </a:t>
            </a:r>
            <a:r>
              <a:rPr lang="es-EC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s-EC" sz="2000" dirty="0" err="1">
                <a:solidFill>
                  <a:schemeClr val="accent1">
                    <a:lumMod val="75000"/>
                  </a:schemeClr>
                </a:solidFill>
              </a:rPr>
              <a:t>Dias</a:t>
            </a:r>
            <a:r>
              <a:rPr lang="es-EC" sz="2000" dirty="0">
                <a:solidFill>
                  <a:schemeClr val="accent1">
                    <a:lumMod val="75000"/>
                  </a:schemeClr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 calcula el promedio diario de consumo </a:t>
            </a:r>
            <a:r>
              <a:rPr lang="es-EC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s-EC" sz="2000" dirty="0" err="1">
                <a:solidFill>
                  <a:schemeClr val="accent1">
                    <a:lumMod val="75000"/>
                  </a:schemeClr>
                </a:solidFill>
              </a:rPr>
              <a:t>P_diario</a:t>
            </a:r>
            <a:r>
              <a:rPr lang="es-EC" sz="2000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s-EC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 luego se proyecta el consumo mensual </a:t>
            </a:r>
            <a:r>
              <a:rPr lang="es-EC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s-EC" sz="2000" dirty="0" err="1">
                <a:solidFill>
                  <a:schemeClr val="accent1">
                    <a:lumMod val="75000"/>
                  </a:schemeClr>
                </a:solidFill>
              </a:rPr>
              <a:t>P_mensual</a:t>
            </a:r>
            <a:r>
              <a:rPr lang="es-EC" sz="2000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s-EC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multiplicando el promedio diario por 30 días.</a:t>
            </a:r>
          </a:p>
        </p:txBody>
      </p:sp>
      <p:pic>
        <p:nvPicPr>
          <p:cNvPr id="18" name="Marcador de posición de imagen 17">
            <a:extLst>
              <a:ext uri="{FF2B5EF4-FFF2-40B4-BE49-F238E27FC236}">
                <a16:creationId xmlns:a16="http://schemas.microsoft.com/office/drawing/2014/main" id="{3150540E-0C07-4271-8CE3-9304AB16AEC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6" r="20806"/>
          <a:stretch>
            <a:fillRect/>
          </a:stretch>
        </p:blipFill>
        <p:spPr>
          <a:xfrm>
            <a:off x="5444218" y="2481942"/>
            <a:ext cx="6165076" cy="1600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E03D6C9-097B-4698-BDC3-0DA3053C4D74}"/>
              </a:ext>
            </a:extLst>
          </p:cNvPr>
          <p:cNvCxnSpPr/>
          <p:nvPr/>
        </p:nvCxnSpPr>
        <p:spPr>
          <a:xfrm>
            <a:off x="5513294" y="2761129"/>
            <a:ext cx="10399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FE925BB-5432-4752-A005-F1243BA74E78}"/>
              </a:ext>
            </a:extLst>
          </p:cNvPr>
          <p:cNvCxnSpPr/>
          <p:nvPr/>
        </p:nvCxnSpPr>
        <p:spPr>
          <a:xfrm>
            <a:off x="5513294" y="3021106"/>
            <a:ext cx="10399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0F5F16E-D097-4841-B633-8D77325F708C}"/>
              </a:ext>
            </a:extLst>
          </p:cNvPr>
          <p:cNvCxnSpPr/>
          <p:nvPr/>
        </p:nvCxnSpPr>
        <p:spPr>
          <a:xfrm>
            <a:off x="5513294" y="3541059"/>
            <a:ext cx="6992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A85CDF7-24DD-4B97-8E83-F6A164C8C2EC}"/>
              </a:ext>
            </a:extLst>
          </p:cNvPr>
          <p:cNvCxnSpPr/>
          <p:nvPr/>
        </p:nvCxnSpPr>
        <p:spPr>
          <a:xfrm>
            <a:off x="5513294" y="3827929"/>
            <a:ext cx="10399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81F4467-B563-4BE3-881B-81FCC7EE5A4B}"/>
              </a:ext>
            </a:extLst>
          </p:cNvPr>
          <p:cNvCxnSpPr/>
          <p:nvPr/>
        </p:nvCxnSpPr>
        <p:spPr>
          <a:xfrm>
            <a:off x="5513294" y="4082142"/>
            <a:ext cx="11743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935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FB8DF-7C24-4CAE-ACCB-52BE361D2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>
                <a:solidFill>
                  <a:schemeClr val="accent1">
                    <a:lumMod val="75000"/>
                  </a:schemeClr>
                </a:solidFill>
              </a:rPr>
              <a:t>Lógica de Recomendación del Plan y sugerencias para optimización de uso.</a:t>
            </a:r>
            <a:endParaRPr lang="es-EC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32AA62-EA0E-4CB5-8EB9-FD9315183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800600"/>
          </a:xfrm>
        </p:spPr>
        <p:txBody>
          <a:bodyPr>
            <a:normAutofit/>
          </a:bodyPr>
          <a:lstStyle/>
          <a:p>
            <a:r>
              <a:rPr lang="es-MX" dirty="0"/>
              <a:t>Aquí utilizamos una estructura condicional 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s-MX" dirty="0" err="1">
                <a:solidFill>
                  <a:schemeClr val="accent1">
                    <a:lumMod val="75000"/>
                  </a:schemeClr>
                </a:solidFill>
              </a:rPr>
              <a:t>if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es-MX" dirty="0" err="1">
                <a:solidFill>
                  <a:schemeClr val="accent1">
                    <a:lumMod val="75000"/>
                  </a:schemeClr>
                </a:solidFill>
              </a:rPr>
              <a:t>else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s-MX" dirty="0" err="1">
                <a:solidFill>
                  <a:schemeClr val="accent1">
                    <a:lumMod val="75000"/>
                  </a:schemeClr>
                </a:solidFill>
              </a:rPr>
              <a:t>if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es-MX" dirty="0" err="1">
                <a:solidFill>
                  <a:schemeClr val="accent1">
                    <a:lumMod val="75000"/>
                  </a:schemeClr>
                </a:solidFill>
              </a:rPr>
              <a:t>else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s-MX" dirty="0"/>
              <a:t>para determinar el plan de datos recomendados basándose en el consumo mensual proyectado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s-MX" dirty="0" err="1">
                <a:solidFill>
                  <a:schemeClr val="accent1">
                    <a:lumMod val="75000"/>
                  </a:schemeClr>
                </a:solidFill>
              </a:rPr>
              <a:t>P_mensual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).</a:t>
            </a:r>
          </a:p>
          <a:p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Los planes definidos son: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 PEQUEÑO: 30 GIGAS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 MEDIANO: 60 GIGAS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 GRANDE: 80 GIGAS</a:t>
            </a:r>
          </a:p>
          <a:p>
            <a:r>
              <a:rPr lang="es-EC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Tras asignar el plan el código evalúa el comportamiento del usuario para mostrar una sugerencia esta se activara cuando si hay consumo excesivo de datos en ciertos casos  como</a:t>
            </a:r>
          </a:p>
          <a:p>
            <a:r>
              <a:rPr lang="es-EC" dirty="0">
                <a:solidFill>
                  <a:schemeClr val="tx1">
                    <a:lumMod val="95000"/>
                    <a:lumOff val="5000"/>
                  </a:schemeClr>
                </a:solidFill>
              </a:rPr>
              <a:t>Y finalmente concatena la información del usuario, el promedio diario  y mensual, el plan recomendado y la sugerencia en la variable “</a:t>
            </a:r>
            <a:r>
              <a:rPr lang="es-EC" dirty="0">
                <a:solidFill>
                  <a:schemeClr val="accent1">
                    <a:lumMod val="75000"/>
                  </a:schemeClr>
                </a:solidFill>
              </a:rPr>
              <a:t>reporte</a:t>
            </a:r>
            <a:r>
              <a:rPr lang="es-EC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”.</a:t>
            </a:r>
            <a:endParaRPr lang="es-MX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814AF6E-B3D0-4EDF-970D-65EA59A1B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104" y="37964"/>
            <a:ext cx="1217159" cy="11231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34C428A-EF2C-4592-ABB8-7E629D3E0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148" y="37965"/>
            <a:ext cx="1145252" cy="11231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CCE41CB-962B-464D-96AF-4158F248AD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458" y="21091"/>
            <a:ext cx="1145252" cy="11610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C00FB6-E6C1-4113-810D-1B8E8A472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6029" y="1408294"/>
            <a:ext cx="6885996" cy="5323432"/>
          </a:xfrm>
          <a:prstGeom prst="rect">
            <a:avLst/>
          </a:prstGeom>
        </p:spPr>
      </p:pic>
      <p:sp>
        <p:nvSpPr>
          <p:cNvPr id="8" name="Abrir llave 7">
            <a:extLst>
              <a:ext uri="{FF2B5EF4-FFF2-40B4-BE49-F238E27FC236}">
                <a16:creationId xmlns:a16="http://schemas.microsoft.com/office/drawing/2014/main" id="{57E5BB6B-3CC0-4F83-AAA2-5E1B7D17CC27}"/>
              </a:ext>
            </a:extLst>
          </p:cNvPr>
          <p:cNvSpPr/>
          <p:nvPr/>
        </p:nvSpPr>
        <p:spPr>
          <a:xfrm>
            <a:off x="5961529" y="2716306"/>
            <a:ext cx="376518" cy="2483223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94D1DE-4BC9-47AC-9970-E53ED3BDAE30}"/>
              </a:ext>
            </a:extLst>
          </p:cNvPr>
          <p:cNvSpPr txBox="1"/>
          <p:nvPr/>
        </p:nvSpPr>
        <p:spPr>
          <a:xfrm>
            <a:off x="7310137" y="6329082"/>
            <a:ext cx="1636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>
                <a:solidFill>
                  <a:schemeClr val="accent1"/>
                </a:solidFill>
              </a:rPr>
              <a:t>Fin del </a:t>
            </a:r>
            <a:r>
              <a:rPr lang="es-EC" dirty="0" err="1">
                <a:solidFill>
                  <a:schemeClr val="accent1"/>
                </a:solidFill>
              </a:rPr>
              <a:t>while</a:t>
            </a:r>
            <a:endParaRPr lang="es-EC" dirty="0">
              <a:solidFill>
                <a:schemeClr val="accent1"/>
              </a:solidFill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7CE0422-21A4-4242-AF3C-3F71E963217E}"/>
              </a:ext>
            </a:extLst>
          </p:cNvPr>
          <p:cNvCxnSpPr/>
          <p:nvPr/>
        </p:nvCxnSpPr>
        <p:spPr>
          <a:xfrm flipH="1">
            <a:off x="6338047" y="6544235"/>
            <a:ext cx="972090" cy="896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391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51367-F847-490E-95A8-76918A15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064" y="200298"/>
            <a:ext cx="3996962" cy="796926"/>
          </a:xfrm>
        </p:spPr>
        <p:txBody>
          <a:bodyPr>
            <a:normAutofit fontScale="90000"/>
          </a:bodyPr>
          <a:lstStyle/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Impresión del Reporte Final.</a:t>
            </a:r>
            <a:endParaRPr lang="es-EC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0999E0-6965-434E-898B-6D8D3C35C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9254" y="1210491"/>
            <a:ext cx="4212771" cy="4658497"/>
          </a:xfrm>
        </p:spPr>
        <p:txBody>
          <a:bodyPr>
            <a:noAutofit/>
          </a:bodyPr>
          <a:lstStyle/>
          <a:p>
            <a:r>
              <a:rPr lang="es-MX" sz="2000" dirty="0"/>
              <a:t>Esta es la sección final que imprime el encabezado del “</a:t>
            </a:r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REPORTE FINAL</a:t>
            </a:r>
            <a:r>
              <a:rPr lang="es-MX" sz="2000" dirty="0"/>
              <a:t>”.</a:t>
            </a:r>
          </a:p>
          <a:p>
            <a:r>
              <a:rPr lang="es-MX" sz="2000" dirty="0"/>
              <a:t>Muestra la tabla estructurado  con columnas para Nombre, Promedio Diario, Promedio Mensual, Plan Recomendado y Sugerencias.</a:t>
            </a:r>
          </a:p>
          <a:p>
            <a:r>
              <a:rPr lang="es-EC" sz="2000" dirty="0"/>
              <a:t>El ejecutable me muestra que los usuarios 1 y 2 reciben recomendaciones d “PLAN GRANDE:80 GB” y “ PLAN MEDIANO:60 GB”, respectivamente, con la sugerencia de “Consumo estable y un Buen manejo de datos.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734DDF6-D94C-4578-A040-5B07D578E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3" y="5395470"/>
            <a:ext cx="12043954" cy="7962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9" name="Marcador de posición de imagen 28">
            <a:extLst>
              <a:ext uri="{FF2B5EF4-FFF2-40B4-BE49-F238E27FC236}">
                <a16:creationId xmlns:a16="http://schemas.microsoft.com/office/drawing/2014/main" id="{4E315594-9050-418B-80F0-19CC0D41F9B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9" r="10149"/>
          <a:stretch>
            <a:fillRect/>
          </a:stretch>
        </p:blipFill>
        <p:spPr>
          <a:xfrm>
            <a:off x="4767943" y="2329540"/>
            <a:ext cx="7350034" cy="7969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2873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23CC0-5D48-4AC5-8067-183EE6D3A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Conclusiones</a:t>
            </a:r>
            <a:endParaRPr lang="es-EC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72C8D198-402E-4BD2-80E9-D7211C692C9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" t="4779" b="4779"/>
          <a:stretch/>
        </p:blipFill>
        <p:spPr>
          <a:xfrm>
            <a:off x="5172891" y="-12335"/>
            <a:ext cx="7019108" cy="68703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05677B-5830-4BF1-9C7E-25333291E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r>
              <a:rPr lang="es-MX" sz="2400" dirty="0"/>
              <a:t>En conclusión, el sistema no solo tiene un enfoque técnico si no que también social y económico.</a:t>
            </a:r>
          </a:p>
          <a:p>
            <a:r>
              <a:rPr lang="es-MX" sz="2400" dirty="0"/>
              <a:t>Las sugerencias están diseñadas para la optimización y gestión del tiempo. Considero que el desarrollo de este sistema es conveniente útil y completamente aplicable a la vida cotidiana de los jóvenes de hoy.</a:t>
            </a:r>
            <a:endParaRPr lang="es-EC" sz="2400" dirty="0"/>
          </a:p>
        </p:txBody>
      </p:sp>
    </p:spTree>
    <p:extLst>
      <p:ext uri="{BB962C8B-B14F-4D97-AF65-F5344CB8AC3E}">
        <p14:creationId xmlns:p14="http://schemas.microsoft.com/office/powerpoint/2010/main" val="17245176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14A91E00-F80C-4964-9289-460B9DA3884D}"/>
              </a:ext>
            </a:extLst>
          </p:cNvPr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36E4AA-238F-41A5-9838-FC822914E2DC}"/>
              </a:ext>
            </a:extLst>
          </p:cNvPr>
          <p:cNvSpPr/>
          <p:nvPr/>
        </p:nvSpPr>
        <p:spPr>
          <a:xfrm>
            <a:off x="0" y="0"/>
            <a:ext cx="306542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CAB359C-9CE1-4843-9C16-1FD8E29F2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426" y="-1"/>
            <a:ext cx="6061150" cy="68580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975B6AEB-A3D3-43C1-BA10-7CF7D64A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795" y="2644587"/>
            <a:ext cx="7739436" cy="39803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s-EC" sz="6000" dirty="0"/>
              <a:t>GRACIAS POR SU ATENCIÓN</a:t>
            </a:r>
          </a:p>
        </p:txBody>
      </p:sp>
    </p:spTree>
    <p:extLst>
      <p:ext uri="{BB962C8B-B14F-4D97-AF65-F5344CB8AC3E}">
        <p14:creationId xmlns:p14="http://schemas.microsoft.com/office/powerpoint/2010/main" val="20255842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447</TotalTime>
  <Words>886</Words>
  <Application>Microsoft Office PowerPoint</Application>
  <PresentationFormat>Panorámica</PresentationFormat>
  <Paragraphs>65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Office Theme</vt:lpstr>
      <vt:lpstr>UNIVERSIDAD TÉCNICA PARTICULAR DE LOJA CARRERA DE INGENIERÍA EN CIENCIAS DE LA COMPUTACIÓN FUNDAMENTOS COMPUTACIONALES Proyecto de Asignatura</vt:lpstr>
      <vt:lpstr>El Dilema Digital del  Estudiante Moderno</vt:lpstr>
      <vt:lpstr>La Respuesta: Una Herramienta para la             Gestión Inteligente de Datos A partir de esta necesidad, se propone un sistema diseñado para transformar la incertidumbre en control.       Programa para Calcular y Recomendar el Consumo de Internet Mensual  Una herramienta de apoyo que brinda a los jóvenes estudiantes información clara sobre su uso de datos, orientándolos a tomar decisiones más eficaces basadas en su realidad diaria.</vt:lpstr>
      <vt:lpstr>Arquitectura del Sistema</vt:lpstr>
      <vt:lpstr>Lógica del Sistema El sistema utiliza operaciones aritméticas y lógicas para transformar los datos de entrada en  proyecciones informativas.</vt:lpstr>
      <vt:lpstr>Presentación de PowerPoint</vt:lpstr>
      <vt:lpstr>Entrada de    Consumo por categoría.</vt:lpstr>
      <vt:lpstr>Cálculo Promedio Mensual</vt:lpstr>
      <vt:lpstr>Lógica de Recomendación del Plan y sugerencias para optimización de uso.</vt:lpstr>
      <vt:lpstr>Impresión del Reporte Final.</vt:lpstr>
      <vt:lpstr>Conclusiones</vt:lpstr>
      <vt:lpstr>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jhojan merino torres</dc:creator>
  <cp:lastModifiedBy>Jonathan Fernando Álvarez Belesaca</cp:lastModifiedBy>
  <cp:revision>39</cp:revision>
  <dcterms:created xsi:type="dcterms:W3CDTF">2025-12-03T05:06:19Z</dcterms:created>
  <dcterms:modified xsi:type="dcterms:W3CDTF">2025-12-03T19:10:49Z</dcterms:modified>
</cp:coreProperties>
</file>